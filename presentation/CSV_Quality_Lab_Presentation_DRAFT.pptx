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20624"/>
            <a:ext cx="64008" cy="347472"/>
          </a:xfrm>
          <a:prstGeom prst="rect">
            <a:avLst/>
          </a:prstGeom>
          <a:solidFill>
            <a:srgbClr val="0FB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2376" y="4572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FBEA2"/>
                </a:solidFill>
              </a:defRPr>
            </a:pPr>
            <a:r>
              <a:t>AN INDEPENDENT PYQT6 DATA ANALYSIS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" y="96012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300" b="1">
                <a:solidFill>
                  <a:srgbClr val="E7F5FA"/>
                </a:solidFill>
              </a:defRPr>
            </a:pPr>
            <a:r>
              <a:t>CSV Data Quality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" y="6473952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A3BFD1"/>
                </a:solidFill>
              </a:defRPr>
            </a:pPr>
            <a:r>
              <a:t>CSV DATA QUALITY LAB  •  Presentation draft - add student details and real testing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0312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E7F5FA"/>
                </a:solidFill>
              </a:defRPr>
            </a:pPr>
            <a:r>
              <a:t>Find missing values. Detect duplicates.</a:t>
            </a:r>
          </a:p>
          <a:p>
            <a:pPr>
              <a:spcAft>
                <a:spcPts val="1000"/>
              </a:spcAft>
              <a:defRPr sz="2500" b="0">
                <a:solidFill>
                  <a:srgbClr val="E7F5FA"/>
                </a:solidFill>
              </a:defRPr>
            </a:pPr>
            <a:r>
              <a:t>Explore numeric columns. Export safer copies.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303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FBEA2"/>
                </a:solidFill>
              </a:defRPr>
            </a:pPr>
            <a:r>
              <a:t>Presented by: [Student name / ID]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20624"/>
            <a:ext cx="64008" cy="347472"/>
          </a:xfrm>
          <a:prstGeom prst="rect">
            <a:avLst/>
          </a:prstGeom>
          <a:solidFill>
            <a:srgbClr val="0FB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2376" y="4572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FBEA2"/>
                </a:solidFill>
              </a:defRPr>
            </a:pPr>
            <a:r>
              <a:t>ADVANCED PROGRAMMING | ASSESSMENT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" y="96012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300" b="1">
                <a:solidFill>
                  <a:srgbClr val="E7F5FA"/>
                </a:solidFill>
              </a:defRPr>
            </a:pPr>
            <a:r>
              <a:t>Why this application?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" y="6473952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A3BFD1"/>
                </a:solidFill>
              </a:defRPr>
            </a:pPr>
            <a:r>
              <a:t>CSV DATA QUALITY LAB  •  Presentation draft - add student details and real testing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240280"/>
            <a:ext cx="3017520" cy="2834640"/>
          </a:xfrm>
          <a:prstGeom prst="roundRect">
            <a:avLst/>
          </a:prstGeom>
          <a:solidFill>
            <a:srgbClr val="182A3A"/>
          </a:solidFill>
          <a:ln>
            <a:solidFill>
              <a:srgbClr val="2D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5603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FBEA2"/>
                </a:solidFill>
              </a:defRPr>
            </a:pPr>
            <a:r>
              <a:t>01 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329184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7F5FA"/>
                </a:solidFill>
              </a:defRPr>
            </a:pPr>
            <a:r>
              <a:t>CSV tables can contain incomplete or repeated records.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2240280"/>
            <a:ext cx="3017520" cy="2834640"/>
          </a:xfrm>
          <a:prstGeom prst="roundRect">
            <a:avLst/>
          </a:prstGeom>
          <a:solidFill>
            <a:srgbClr val="182A3A"/>
          </a:solidFill>
          <a:ln>
            <a:solidFill>
              <a:srgbClr val="2D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61688" y="25603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FBEA2"/>
                </a:solidFill>
              </a:defRPr>
            </a:pPr>
            <a:r>
              <a:t>02 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1688" y="329184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7F5FA"/>
                </a:solidFill>
              </a:defRPr>
            </a:pPr>
            <a:r>
              <a:t>Scan structured data without freezing the interface.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2240280"/>
            <a:ext cx="3017520" cy="2834640"/>
          </a:xfrm>
          <a:prstGeom prst="roundRect">
            <a:avLst/>
          </a:prstGeom>
          <a:solidFill>
            <a:srgbClr val="182A3A"/>
          </a:solidFill>
          <a:ln>
            <a:solidFill>
              <a:srgbClr val="2D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4968" y="25603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FBEA2"/>
                </a:solidFill>
              </a:defRPr>
            </a:pPr>
            <a:r>
              <a:t>03  EXPORT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4968" y="329184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7F5FA"/>
                </a:solidFill>
              </a:defRPr>
            </a:pPr>
            <a:r>
              <a:t>Save a separate cleaned copy and a summary.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20624"/>
            <a:ext cx="64008" cy="347472"/>
          </a:xfrm>
          <a:prstGeom prst="rect">
            <a:avLst/>
          </a:prstGeom>
          <a:solidFill>
            <a:srgbClr val="0FB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2376" y="4572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FBEA2"/>
                </a:solidFill>
              </a:defRPr>
            </a:pPr>
            <a:r>
              <a:t>ADVANCED PROGRAMMING | ASSESSMENT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" y="96012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300" b="1">
                <a:solidFill>
                  <a:srgbClr val="E7F5FA"/>
                </a:solidFill>
              </a:defRPr>
            </a:pPr>
            <a:r>
              <a:t>Main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" y="6473952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A3BFD1"/>
                </a:solidFill>
              </a:defRPr>
            </a:pPr>
            <a:r>
              <a:t>CSV DATA QUALITY LAB  •  Presentation draft - add student details and real testing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965960"/>
            <a:ext cx="5074920" cy="1664208"/>
          </a:xfrm>
          <a:prstGeom prst="roundRect">
            <a:avLst/>
          </a:prstGeom>
          <a:solidFill>
            <a:srgbClr val="182A3A"/>
          </a:solidFill>
          <a:ln>
            <a:solidFill>
              <a:srgbClr val="2D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157984"/>
            <a:ext cx="4754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0FBEA2"/>
                </a:solidFill>
              </a:defRPr>
            </a:pPr>
            <a:r>
              <a:t>Multi-file import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724912"/>
            <a:ext cx="4572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7F5FA"/>
                </a:solidFill>
              </a:defRPr>
            </a:pPr>
            <a:r>
              <a:t>Analyze several UTF-8 CSV datasets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65960"/>
            <a:ext cx="5074920" cy="1664208"/>
          </a:xfrm>
          <a:prstGeom prst="roundRect">
            <a:avLst/>
          </a:prstGeom>
          <a:solidFill>
            <a:srgbClr val="182A3A"/>
          </a:solidFill>
          <a:ln>
            <a:solidFill>
              <a:srgbClr val="2D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2157984"/>
            <a:ext cx="4754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0FBEA2"/>
                </a:solidFill>
              </a:defRPr>
            </a:pPr>
            <a:r>
              <a:t>Quality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2724912"/>
            <a:ext cx="4572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7F5FA"/>
                </a:solidFill>
              </a:defRPr>
            </a:pPr>
            <a:r>
              <a:t>Rows, missing cells, duplicates and score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904487"/>
            <a:ext cx="5074920" cy="1664208"/>
          </a:xfrm>
          <a:prstGeom prst="roundRect">
            <a:avLst/>
          </a:prstGeom>
          <a:solidFill>
            <a:srgbClr val="182A3A"/>
          </a:solidFill>
          <a:ln>
            <a:solidFill>
              <a:srgbClr val="2D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4096511"/>
            <a:ext cx="4754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0FBEA2"/>
                </a:solidFill>
              </a:defRPr>
            </a:pPr>
            <a:r>
              <a:t>Dataset explorer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4663440"/>
            <a:ext cx="4572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7F5FA"/>
                </a:solidFill>
              </a:defRPr>
            </a:pPr>
            <a:r>
              <a:t>150-row preview and column statistics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904487"/>
            <a:ext cx="5074920" cy="1664208"/>
          </a:xfrm>
          <a:prstGeom prst="roundRect">
            <a:avLst/>
          </a:prstGeom>
          <a:solidFill>
            <a:srgbClr val="182A3A"/>
          </a:solidFill>
          <a:ln>
            <a:solidFill>
              <a:srgbClr val="2D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4096511"/>
            <a:ext cx="4754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0FBEA2"/>
                </a:solidFill>
              </a:defRPr>
            </a:pPr>
            <a:r>
              <a:t>Export safely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4663440"/>
            <a:ext cx="4572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7F5FA"/>
                </a:solidFill>
              </a:defRPr>
            </a:pPr>
            <a:r>
              <a:t>Cleaned CSV and quality summary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20624"/>
            <a:ext cx="64008" cy="347472"/>
          </a:xfrm>
          <a:prstGeom prst="rect">
            <a:avLst/>
          </a:prstGeom>
          <a:solidFill>
            <a:srgbClr val="0FB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2376" y="4572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FBEA2"/>
                </a:solidFill>
              </a:defRPr>
            </a:pPr>
            <a:r>
              <a:t>ADVANCED PROGRAMMING | ASSESSMENT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" y="96012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300" b="1">
                <a:solidFill>
                  <a:srgbClr val="E7F5FA"/>
                </a:solidFill>
              </a:defRPr>
            </a:pPr>
            <a:r>
              <a:t>Architecture and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" y="6473952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A3BFD1"/>
                </a:solidFill>
              </a:defRPr>
            </a:pPr>
            <a:r>
              <a:t>CSV DATA QUALITY LAB  •  Presentation draft - add student details and real testing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2286000"/>
            <a:ext cx="3063240" cy="2807208"/>
          </a:xfrm>
          <a:prstGeom prst="roundRect">
            <a:avLst/>
          </a:prstGeom>
          <a:solidFill>
            <a:srgbClr val="182A3A"/>
          </a:solidFill>
          <a:ln>
            <a:solidFill>
              <a:srgbClr val="2D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560320"/>
            <a:ext cx="2724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FBEA2"/>
                </a:solidFill>
              </a:defRPr>
            </a:pPr>
            <a:r>
              <a:t>GUI / 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264408"/>
            <a:ext cx="2743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E7F5FA"/>
                </a:solidFill>
              </a:defRPr>
            </a:pPr>
            <a:r>
              <a:t>main.py + gui.py</a:t>
            </a:r>
          </a:p>
          <a:p>
            <a:pPr>
              <a:spcAft>
                <a:spcPts val="1000"/>
              </a:spcAft>
              <a:defRPr sz="1600" b="0">
                <a:solidFill>
                  <a:srgbClr val="E7F5FA"/>
                </a:solidFill>
              </a:defRPr>
            </a:pPr>
            <a:r>
              <a:t>QMainWindow, controls, metrics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9663" y="2286000"/>
            <a:ext cx="3063240" cy="2807208"/>
          </a:xfrm>
          <a:prstGeom prst="roundRect">
            <a:avLst/>
          </a:prstGeom>
          <a:solidFill>
            <a:srgbClr val="182A3A"/>
          </a:solidFill>
          <a:ln>
            <a:solidFill>
              <a:srgbClr val="2D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5112" y="2560320"/>
            <a:ext cx="2724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FBEA2"/>
                </a:solidFill>
              </a:defRPr>
            </a:pPr>
            <a:r>
              <a:t>Background worker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5112" y="3264408"/>
            <a:ext cx="2743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E7F5FA"/>
                </a:solidFill>
              </a:defRPr>
            </a:pPr>
            <a:r>
              <a:t>worker.py</a:t>
            </a:r>
          </a:p>
          <a:p>
            <a:pPr>
              <a:spcAft>
                <a:spcPts val="1000"/>
              </a:spcAft>
              <a:defRPr sz="1600" b="0">
                <a:solidFill>
                  <a:srgbClr val="E7F5FA"/>
                </a:solidFill>
              </a:defRPr>
            </a:pPr>
            <a:r>
              <a:t>QThread, Qt signals, cancellation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52944" y="2286000"/>
            <a:ext cx="3063240" cy="2807208"/>
          </a:xfrm>
          <a:prstGeom prst="roundRect">
            <a:avLst/>
          </a:prstGeom>
          <a:solidFill>
            <a:srgbClr val="182A3A"/>
          </a:solidFill>
          <a:ln>
            <a:solidFill>
              <a:srgbClr val="2D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08392" y="2560320"/>
            <a:ext cx="2724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FBEA2"/>
                </a:solidFill>
              </a:defRPr>
            </a:pPr>
            <a:r>
              <a:t>Model / 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08392" y="3264408"/>
            <a:ext cx="2743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E7F5FA"/>
                </a:solidFill>
              </a:defRPr>
            </a:pPr>
            <a:r>
              <a:t>analyser.py</a:t>
            </a:r>
          </a:p>
          <a:p>
            <a:pPr>
              <a:spcAft>
                <a:spcPts val="1000"/>
              </a:spcAft>
              <a:defRPr sz="1600" b="0">
                <a:solidFill>
                  <a:srgbClr val="E7F5FA"/>
                </a:solidFill>
              </a:defRPr>
            </a:pPr>
            <a:r>
              <a:t>CSV validation, profiles, exports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20624"/>
            <a:ext cx="64008" cy="347472"/>
          </a:xfrm>
          <a:prstGeom prst="rect">
            <a:avLst/>
          </a:prstGeom>
          <a:solidFill>
            <a:srgbClr val="0FB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2376" y="4572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FBEA2"/>
                </a:solidFill>
              </a:defRPr>
            </a:pPr>
            <a:r>
              <a:t>ADVANCED PROGRAMMING | ASSESSMENT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" y="96012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300" b="1">
                <a:solidFill>
                  <a:srgbClr val="E7F5FA"/>
                </a:solidFill>
              </a:defRPr>
            </a:pPr>
            <a:r>
              <a:t>Responsive processing and synchronization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" y="6473952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A3BFD1"/>
                </a:solidFill>
              </a:defRPr>
            </a:pPr>
            <a:r>
              <a:t>CSV DATA QUALITY LAB  •  Presentation draft - add student details and real testing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10424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E7F5FA"/>
                </a:solidFill>
              </a:defRPr>
            </a:pPr>
            <a:r>
              <a:t>• A QObject worker is moved to QThread.</a:t>
            </a:r>
          </a:p>
          <a:p>
            <a:pPr>
              <a:spcAft>
                <a:spcPts val="1000"/>
              </a:spcAft>
              <a:defRPr sz="2100" b="0">
                <a:solidFill>
                  <a:srgbClr val="E7F5FA"/>
                </a:solidFill>
              </a:defRPr>
            </a:pPr>
            <a:r>
              <a:t>• Progress and FileReport values are delivered using Qt signals.</a:t>
            </a:r>
          </a:p>
          <a:p>
            <a:pPr>
              <a:spcAft>
                <a:spcPts val="1000"/>
              </a:spcAft>
              <a:defRPr sz="2100" b="0">
                <a:solidFill>
                  <a:srgbClr val="E7F5FA"/>
                </a:solidFill>
              </a:defRPr>
            </a:pPr>
            <a:r>
              <a:t>• The GUI thread alone updates its tables and report dictionary.</a:t>
            </a:r>
          </a:p>
          <a:p>
            <a:pPr>
              <a:spcAft>
                <a:spcPts val="1000"/>
              </a:spcAft>
              <a:defRPr sz="2100" b="0">
                <a:solidFill>
                  <a:srgbClr val="E7F5FA"/>
                </a:solidFill>
              </a:defRPr>
            </a:pPr>
            <a:r>
              <a:t>• Cancellation uses a thread-safe threading.Event.</a:t>
            </a:r>
          </a:p>
          <a:p>
            <a:pPr>
              <a:spcAft>
                <a:spcPts val="1000"/>
              </a:spcAft>
              <a:defRPr sz="2100" b="0">
                <a:solidFill>
                  <a:srgbClr val="E7F5FA"/>
                </a:solidFill>
              </a:defRPr>
            </a:pPr>
            <a:r>
              <a:t>• QtMultimedia plays a short completion chime.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20624"/>
            <a:ext cx="64008" cy="347472"/>
          </a:xfrm>
          <a:prstGeom prst="rect">
            <a:avLst/>
          </a:prstGeom>
          <a:solidFill>
            <a:srgbClr val="0FB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2376" y="4572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FBEA2"/>
                </a:solidFill>
              </a:defRPr>
            </a:pPr>
            <a:r>
              <a:t>ADVANCED PROGRAMMING | ASSESSMENT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" y="96012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300" b="1">
                <a:solidFill>
                  <a:srgbClr val="E7F5FA"/>
                </a:solidFill>
              </a:defRPr>
            </a:pPr>
            <a:r>
              <a:t>Performance: measured sample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" y="6473952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A3BFD1"/>
                </a:solidFill>
              </a:defRPr>
            </a:pPr>
            <a:r>
              <a:t>CSV DATA QUALITY LAB  •  Presentation draft - add student details and real testing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A3BFD1"/>
                </a:solidFill>
              </a:defRPr>
            </a:pPr>
            <a:r>
              <a:t>6 synthetic CSV files × 2,500 rows | 3 repeats | 4 workers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560320"/>
            <a:ext cx="3383280" cy="2011680"/>
          </a:xfrm>
          <a:prstGeom prst="roundRect">
            <a:avLst/>
          </a:prstGeom>
          <a:solidFill>
            <a:srgbClr val="182A3A"/>
          </a:solidFill>
          <a:ln>
            <a:solidFill>
              <a:srgbClr val="2D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798064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0FBEA2"/>
                </a:solidFill>
              </a:defRPr>
            </a:pPr>
            <a:r>
              <a:t>Sequential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32918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E7F5FA"/>
                </a:solidFill>
              </a:defRPr>
            </a:pPr>
            <a:r>
              <a:t>0.1448 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98678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3BFD1"/>
                </a:solidFill>
              </a:defRPr>
            </a:pPr>
            <a:r>
              <a:t>1.00×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81728" y="2560320"/>
            <a:ext cx="3383280" cy="2011680"/>
          </a:xfrm>
          <a:prstGeom prst="roundRect">
            <a:avLst/>
          </a:prstGeom>
          <a:solidFill>
            <a:srgbClr val="182A3A"/>
          </a:solidFill>
          <a:ln>
            <a:solidFill>
              <a:srgbClr val="2D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2798064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0FBEA2"/>
                </a:solidFill>
              </a:defRPr>
            </a:pPr>
            <a:r>
              <a:t>Threads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32918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E7F5FA"/>
                </a:solidFill>
              </a:defRPr>
            </a:pPr>
            <a:r>
              <a:t>0.2217 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398678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3BFD1"/>
                </a:solidFill>
              </a:defRPr>
            </a:pPr>
            <a:r>
              <a:t>0.65×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49056" y="2560320"/>
            <a:ext cx="3383280" cy="2011680"/>
          </a:xfrm>
          <a:prstGeom prst="roundRect">
            <a:avLst/>
          </a:prstGeom>
          <a:solidFill>
            <a:srgbClr val="182A3A"/>
          </a:solidFill>
          <a:ln>
            <a:solidFill>
              <a:srgbClr val="2D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13648" y="2798064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0FBEA2"/>
                </a:solidFill>
              </a:defRPr>
            </a:pPr>
            <a:r>
              <a:t>Processes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13648" y="32918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E7F5FA"/>
                </a:solidFill>
              </a:defRPr>
            </a:pPr>
            <a:r>
              <a:t>0.1598 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13648" y="398678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A3BFD1"/>
                </a:solidFill>
              </a:defRPr>
            </a:pPr>
            <a:r>
              <a:t>0.91×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" y="5157216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E7F5FA"/>
                </a:solidFill>
              </a:defRPr>
            </a:pPr>
            <a:r>
              <a:t>On this small test, parallel approaches were slower due to overhead. Rerun on your own computer.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20624"/>
            <a:ext cx="64008" cy="347472"/>
          </a:xfrm>
          <a:prstGeom prst="rect">
            <a:avLst/>
          </a:prstGeom>
          <a:solidFill>
            <a:srgbClr val="0FB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2376" y="4572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FBEA2"/>
                </a:solidFill>
              </a:defRPr>
            </a:pPr>
            <a:r>
              <a:t>ADVANCED PROGRAMMING | ASSESSMENT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" y="96012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300" b="1">
                <a:solidFill>
                  <a:srgbClr val="E7F5FA"/>
                </a:solidFill>
              </a:defRPr>
            </a:pPr>
            <a:r>
              <a:t>Amdahl’s Law and task suitability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" y="6473952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A3BFD1"/>
                </a:solidFill>
              </a:defRPr>
            </a:pPr>
            <a:r>
              <a:t>CSV DATA QUALITY LAB  •  Presentation draft - add student details and real testing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103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E7F5FA"/>
                </a:solidFill>
              </a:defRPr>
            </a:pPr>
            <a:r>
              <a:t>If 80% of work is parallel and we use 4 workers: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880360"/>
            <a:ext cx="100584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 b="1">
                <a:solidFill>
                  <a:srgbClr val="0FBEA2"/>
                </a:solidFill>
              </a:defRPr>
            </a:pPr>
            <a:r>
              <a:t>Speed-up = 1 / [(1 − 0.80) + (0.80 / 4)] = 2.50×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4343400"/>
            <a:ext cx="10149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E7F5FA"/>
                </a:solidFill>
              </a:defRPr>
            </a:pPr>
            <a:r>
              <a:t>This is a theoretical illustration, not the measured speed-up. CPU-bound work may benefit from processes; threads help when tasks wait on I/O.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20624"/>
            <a:ext cx="64008" cy="347472"/>
          </a:xfrm>
          <a:prstGeom prst="rect">
            <a:avLst/>
          </a:prstGeom>
          <a:solidFill>
            <a:srgbClr val="0FB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2376" y="4572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FBEA2"/>
                </a:solidFill>
              </a:defRPr>
            </a:pPr>
            <a:r>
              <a:t>ADVANCED PROGRAMMING | ASSESSMENT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" y="96012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300" b="1">
                <a:solidFill>
                  <a:srgbClr val="E7F5FA"/>
                </a:solidFill>
              </a:defRPr>
            </a:pPr>
            <a:r>
              <a:t>Testing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" y="6473952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A3BFD1"/>
                </a:solidFill>
              </a:defRPr>
            </a:pPr>
            <a:r>
              <a:t>CSV DATA QUALITY LAB  •  Presentation draft - add student details and real testing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" y="1847088"/>
            <a:ext cx="10241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E7F5FA"/>
                </a:solidFill>
              </a:defRPr>
            </a:pPr>
            <a:r>
              <a:t>35 automated tests passed during package preparation.</a:t>
            </a:r>
          </a:p>
          <a:p>
            <a:pPr>
              <a:spcAft>
                <a:spcPts val="1000"/>
              </a:spcAft>
              <a:defRPr sz="2100" b="0">
                <a:solidFill>
                  <a:srgbClr val="E7F5FA"/>
                </a:solidFill>
              </a:defRPr>
            </a:pPr>
          </a:p>
          <a:p>
            <a:pPr>
              <a:spcAft>
                <a:spcPts val="1000"/>
              </a:spcAft>
              <a:defRPr sz="2100" b="0">
                <a:solidFill>
                  <a:srgbClr val="E7F5FA"/>
                </a:solidFill>
              </a:defRPr>
            </a:pPr>
            <a:r>
              <a:t>Manual GUI, sound, cancellation and Windows build tests must be performed and recorded by the student.</a:t>
            </a:r>
          </a:p>
          <a:p>
            <a:pPr>
              <a:spcAft>
                <a:spcPts val="1000"/>
              </a:spcAft>
              <a:defRPr sz="2100" b="0">
                <a:solidFill>
                  <a:srgbClr val="E7F5FA"/>
                </a:solidFill>
              </a:defRPr>
            </a:pPr>
          </a:p>
          <a:p>
            <a:pPr>
              <a:spcAft>
                <a:spcPts val="1000"/>
              </a:spcAft>
              <a:defRPr sz="2100" b="0">
                <a:solidFill>
                  <a:srgbClr val="E7F5FA"/>
                </a:solidFill>
              </a:defRPr>
            </a:pPr>
            <a:r>
              <a:t>Capture: real screenshots, actual test outcomes, Git history, fixes and executable launch.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20624"/>
            <a:ext cx="64008" cy="347472"/>
          </a:xfrm>
          <a:prstGeom prst="rect">
            <a:avLst/>
          </a:prstGeom>
          <a:solidFill>
            <a:srgbClr val="0FB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2376" y="4572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FBEA2"/>
                </a:solidFill>
              </a:defRPr>
            </a:pPr>
            <a:r>
              <a:t>ADVANCED PROGRAMMING | ASSESSMENT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" y="96012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300" b="1">
                <a:solidFill>
                  <a:srgbClr val="E7F5FA"/>
                </a:solidFill>
              </a:defRPr>
            </a:pPr>
            <a:r>
              <a:t>Evaluation and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" y="6473952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A3BFD1"/>
                </a:solidFill>
              </a:defRPr>
            </a:pPr>
            <a:r>
              <a:t>CSV DATA QUALITY LAB  •  Presentation draft - add student details and real testing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4937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E7F5FA"/>
                </a:solidFill>
              </a:defRPr>
            </a:pPr>
            <a:r>
              <a:t>Strengths</a:t>
            </a:r>
          </a:p>
          <a:p>
            <a:pPr>
              <a:spcAft>
                <a:spcPts val="1000"/>
              </a:spcAft>
              <a:defRPr sz="1800" b="0">
                <a:solidFill>
                  <a:srgbClr val="E7F5FA"/>
                </a:solidFill>
              </a:defRPr>
            </a:pPr>
            <a:r>
              <a:t>• Independent data-focused application</a:t>
            </a:r>
          </a:p>
          <a:p>
            <a:pPr>
              <a:spcAft>
                <a:spcPts val="1000"/>
              </a:spcAft>
              <a:defRPr sz="1800" b="0">
                <a:solidFill>
                  <a:srgbClr val="E7F5FA"/>
                </a:solidFill>
              </a:defRPr>
            </a:pPr>
            <a:r>
              <a:t>• Safe copy/export behaviour</a:t>
            </a:r>
          </a:p>
          <a:p>
            <a:pPr>
              <a:spcAft>
                <a:spcPts val="1000"/>
              </a:spcAft>
              <a:defRPr sz="1800" b="0">
                <a:solidFill>
                  <a:srgbClr val="E7F5FA"/>
                </a:solidFill>
              </a:defRPr>
            </a:pPr>
            <a:r>
              <a:t>• MVC-style separation and concurrency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920240"/>
            <a:ext cx="50292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E7F5FA"/>
                </a:solidFill>
              </a:defRPr>
            </a:pPr>
            <a:r>
              <a:t>Limitations</a:t>
            </a:r>
          </a:p>
          <a:p>
            <a:pPr>
              <a:spcAft>
                <a:spcPts val="1000"/>
              </a:spcAft>
              <a:defRPr sz="1800" b="0">
                <a:solidFill>
                  <a:srgbClr val="E7F5FA"/>
                </a:solidFill>
              </a:defRPr>
            </a:pPr>
            <a:r>
              <a:t>• UTF-8 CSV only</a:t>
            </a:r>
          </a:p>
          <a:p>
            <a:pPr>
              <a:spcAft>
                <a:spcPts val="1000"/>
              </a:spcAft>
              <a:defRPr sz="1800" b="0">
                <a:solidFill>
                  <a:srgbClr val="E7F5FA"/>
                </a:solidFill>
              </a:defRPr>
            </a:pPr>
            <a:r>
              <a:t>• Preview search limited to sample</a:t>
            </a:r>
          </a:p>
          <a:p>
            <a:pPr>
              <a:spcAft>
                <a:spcPts val="1000"/>
              </a:spcAft>
              <a:defRPr sz="1800" b="0">
                <a:solidFill>
                  <a:srgbClr val="E7F5FA"/>
                </a:solidFill>
              </a:defRPr>
            </a:pPr>
            <a:r>
              <a:t>• Exact duplicates only; hashes use 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7150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BEA2"/>
                </a:solidFill>
              </a:defRPr>
            </a:pPr>
            <a:r>
              <a:t>Before submission: run the Windows application, update the report and present an authentic demo.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